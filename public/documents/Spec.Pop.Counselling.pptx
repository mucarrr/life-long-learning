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0" r:id="rId3"/>
    <p:sldId id="257" r:id="rId4"/>
    <p:sldId id="278" r:id="rId5"/>
    <p:sldId id="275" r:id="rId6"/>
    <p:sldId id="276" r:id="rId7"/>
    <p:sldId id="277" r:id="rId8"/>
    <p:sldId id="267" r:id="rId9"/>
    <p:sldId id="261" r:id="rId10"/>
    <p:sldId id="262" r:id="rId11"/>
    <p:sldId id="263" r:id="rId12"/>
    <p:sldId id="265" r:id="rId13"/>
    <p:sldId id="269" r:id="rId14"/>
    <p:sldId id="270" r:id="rId15"/>
    <p:sldId id="272" r:id="rId16"/>
    <p:sldId id="273" r:id="rId17"/>
    <p:sldId id="271"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1" d="100"/>
          <a:sy n="101" d="100"/>
        </p:scale>
        <p:origin x="954"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tr-TR" smtClean="0"/>
              <a:t>Asıl başlık stili için tıklatın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a:xfrm>
            <a:off x="2692397" y="5037663"/>
            <a:ext cx="5214635" cy="279400"/>
          </a:xfrm>
        </p:spPr>
        <p:txBody>
          <a:bodyPr/>
          <a:lstStyle/>
          <a:p>
            <a:endParaRPr lang="tr-TR"/>
          </a:p>
        </p:txBody>
      </p:sp>
      <p:sp>
        <p:nvSpPr>
          <p:cNvPr id="6" name="Slide Number Placeholder 5"/>
          <p:cNvSpPr>
            <a:spLocks noGrp="1"/>
          </p:cNvSpPr>
          <p:nvPr>
            <p:ph type="sldNum" sz="quarter" idx="12"/>
          </p:nvPr>
        </p:nvSpPr>
        <p:spPr>
          <a:xfrm>
            <a:off x="8956900" y="5037663"/>
            <a:ext cx="551167" cy="279400"/>
          </a:xfrm>
        </p:spPr>
        <p:txBody>
          <a:bodyPr/>
          <a:lstStyle/>
          <a:p>
            <a:fld id="{58207C8E-6EBA-4938-886D-981296F5E6B2}" type="slidenum">
              <a:rPr lang="tr-TR" smtClean="0"/>
              <a:t>‹#›</a:t>
            </a:fld>
            <a:endParaRPr lang="tr-T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26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spTree>
    <p:extLst>
      <p:ext uri="{BB962C8B-B14F-4D97-AF65-F5344CB8AC3E}">
        <p14:creationId xmlns:p14="http://schemas.microsoft.com/office/powerpoint/2010/main" val="516355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65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1699E0D4-3764-4626-A735-3FBD1ED39076}" type="datetimeFigureOut">
              <a:rPr lang="tr-TR" smtClean="0"/>
              <a:t>16.11.2021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8207C8E-6EBA-4938-886D-981296F5E6B2}" type="slidenum">
              <a:rPr lang="tr-TR" smtClean="0"/>
              <a:t>‹#›</a:t>
            </a:fld>
            <a:endParaRPr lang="tr-TR"/>
          </a:p>
        </p:txBody>
      </p:sp>
    </p:spTree>
    <p:extLst>
      <p:ext uri="{BB962C8B-B14F-4D97-AF65-F5344CB8AC3E}">
        <p14:creationId xmlns:p14="http://schemas.microsoft.com/office/powerpoint/2010/main" val="2898909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1699E0D4-3764-4626-A735-3FBD1ED39076}" type="datetimeFigureOut">
              <a:rPr lang="tr-TR" smtClean="0"/>
              <a:t>16.11.2021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58207C8E-6EBA-4938-886D-981296F5E6B2}" type="slidenum">
              <a:rPr lang="tr-TR" smtClean="0"/>
              <a:t>‹#›</a:t>
            </a:fld>
            <a:endParaRPr lang="tr-T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0472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1699E0D4-3764-4626-A735-3FBD1ED39076}" type="datetimeFigureOut">
              <a:rPr lang="tr-TR" smtClean="0"/>
              <a:t>16.11.2021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58207C8E-6EBA-4938-886D-981296F5E6B2}" type="slidenum">
              <a:rPr lang="tr-TR" smtClean="0"/>
              <a:t>‹#›</a:t>
            </a:fld>
            <a:endParaRPr lang="tr-T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6501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99E0D4-3764-4626-A735-3FBD1ED39076}" type="datetimeFigureOut">
              <a:rPr lang="tr-TR" smtClean="0"/>
              <a:t>16.11.2021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58207C8E-6EBA-4938-886D-981296F5E6B2}" type="slidenum">
              <a:rPr lang="tr-TR" smtClean="0"/>
              <a:t>‹#›</a:t>
            </a:fld>
            <a:endParaRPr lang="tr-TR"/>
          </a:p>
        </p:txBody>
      </p:sp>
    </p:spTree>
    <p:extLst>
      <p:ext uri="{BB962C8B-B14F-4D97-AF65-F5344CB8AC3E}">
        <p14:creationId xmlns:p14="http://schemas.microsoft.com/office/powerpoint/2010/main" val="1115635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tr-TR" smtClean="0"/>
              <a:t>Asıl başlık stili için tıklatın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1699E0D4-3764-4626-A735-3FBD1ED39076}" type="datetimeFigureOut">
              <a:rPr lang="tr-TR" smtClean="0"/>
              <a:t>16.11.2021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8207C8E-6EBA-4938-886D-981296F5E6B2}" type="slidenum">
              <a:rPr lang="tr-TR" smtClean="0"/>
              <a:t>‹#›</a:t>
            </a:fld>
            <a:endParaRPr lang="tr-T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1343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tr-TR" smtClean="0"/>
              <a:t>Asıl başlık stili için tıklatın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1699E0D4-3764-4626-A735-3FBD1ED39076}" type="datetimeFigureOut">
              <a:rPr lang="tr-TR" smtClean="0"/>
              <a:t>16.11.2021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8207C8E-6EBA-4938-886D-981296F5E6B2}" type="slidenum">
              <a:rPr lang="tr-TR" smtClean="0"/>
              <a:t>‹#›</a:t>
            </a:fld>
            <a:endParaRPr lang="tr-TR"/>
          </a:p>
        </p:txBody>
      </p:sp>
    </p:spTree>
    <p:extLst>
      <p:ext uri="{BB962C8B-B14F-4D97-AF65-F5344CB8AC3E}">
        <p14:creationId xmlns:p14="http://schemas.microsoft.com/office/powerpoint/2010/main" val="3263627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1699E0D4-3764-4626-A735-3FBD1ED39076}" type="datetimeFigureOut">
              <a:rPr lang="tr-TR" smtClean="0"/>
              <a:t>16.11.2021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8207C8E-6EBA-4938-886D-981296F5E6B2}" type="slidenum">
              <a:rPr lang="tr-TR" smtClean="0"/>
              <a:t>‹#›</a:t>
            </a:fld>
            <a:endParaRPr lang="tr-TR"/>
          </a:p>
        </p:txBody>
      </p:sp>
    </p:spTree>
    <p:extLst>
      <p:ext uri="{BB962C8B-B14F-4D97-AF65-F5344CB8AC3E}">
        <p14:creationId xmlns:p14="http://schemas.microsoft.com/office/powerpoint/2010/main" val="1964068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497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tr-TR" smtClean="0"/>
              <a:t>Asıl başlık stili için tıklatın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smtClean="0"/>
              <a:t>Asıl metin stillerini düzenle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3668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spTree>
    <p:extLst>
      <p:ext uri="{BB962C8B-B14F-4D97-AF65-F5344CB8AC3E}">
        <p14:creationId xmlns:p14="http://schemas.microsoft.com/office/powerpoint/2010/main" val="9973815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tr-TR" smtClean="0"/>
              <a:t>Asıl başlık stili için tıklatın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0155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tr-TR" smtClean="0"/>
              <a:t>Asıl başlık stili için tıklatın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08407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1541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1699E0D4-3764-4626-A735-3FBD1ED39076}" type="datetimeFigureOut">
              <a:rPr lang="tr-TR" smtClean="0"/>
              <a:t>16.11.2021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8207C8E-6EBA-4938-886D-981296F5E6B2}" type="slidenum">
              <a:rPr lang="tr-TR" smtClean="0"/>
              <a:t>‹#›</a:t>
            </a:fld>
            <a:endParaRPr lang="tr-T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006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699E0D4-3764-4626-A735-3FBD1ED39076}" type="datetimeFigureOut">
              <a:rPr lang="tr-TR" smtClean="0"/>
              <a:t>16.11.2021</a:t>
            </a:fld>
            <a:endParaRPr lang="tr-T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tr-T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8207C8E-6EBA-4938-886D-981296F5E6B2}" type="slidenum">
              <a:rPr lang="tr-TR" smtClean="0"/>
              <a:t>‹#›</a:t>
            </a:fld>
            <a:endParaRPr lang="tr-TR"/>
          </a:p>
        </p:txBody>
      </p:sp>
    </p:spTree>
    <p:extLst>
      <p:ext uri="{BB962C8B-B14F-4D97-AF65-F5344CB8AC3E}">
        <p14:creationId xmlns:p14="http://schemas.microsoft.com/office/powerpoint/2010/main" val="73897962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understood.org/articles/en/section-504-of-the-rehabilitation-act-of-1973-what-you-need-to-know"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tea.texas.gov/academics/special-student-populations" TargetMode="External"/><Relationship Id="rId2" Type="http://schemas.openxmlformats.org/officeDocument/2006/relationships/hyperlink" Target="https://www.understood.org/articles/en/what-is-an-iep" TargetMode="External"/><Relationship Id="rId1" Type="http://schemas.openxmlformats.org/officeDocument/2006/relationships/slideLayout" Target="../slideLayouts/slideLayout2.xml"/><Relationship Id="rId4" Type="http://schemas.openxmlformats.org/officeDocument/2006/relationships/hyperlink" Target="https://www.parentcenterhub.org/webinar-doe-iep-oct202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2616198" y="3109380"/>
            <a:ext cx="6815669" cy="1515533"/>
          </a:xfrm>
        </p:spPr>
        <p:txBody>
          <a:bodyPr>
            <a:normAutofit fontScale="90000"/>
          </a:bodyPr>
          <a:lstStyle/>
          <a:p>
            <a:r>
              <a:rPr lang="en-GB" dirty="0" smtClean="0"/>
              <a:t>Concept Of Counsellor And The Roles Of Counsellor In Special Needs Education</a:t>
            </a:r>
            <a:endParaRPr lang="tr-TR" dirty="0"/>
          </a:p>
        </p:txBody>
      </p:sp>
    </p:spTree>
    <p:extLst>
      <p:ext uri="{BB962C8B-B14F-4D97-AF65-F5344CB8AC3E}">
        <p14:creationId xmlns:p14="http://schemas.microsoft.com/office/powerpoint/2010/main" val="518040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Counselling</a:t>
            </a:r>
            <a:endParaRPr lang="tr-TR" dirty="0"/>
          </a:p>
        </p:txBody>
      </p:sp>
      <p:sp>
        <p:nvSpPr>
          <p:cNvPr id="3" name="İçerik Yer Tutucusu 2"/>
          <p:cNvSpPr>
            <a:spLocks noGrp="1"/>
          </p:cNvSpPr>
          <p:nvPr>
            <p:ph idx="1"/>
          </p:nvPr>
        </p:nvSpPr>
        <p:spPr/>
        <p:txBody>
          <a:bodyPr/>
          <a:lstStyle/>
          <a:p>
            <a:r>
              <a:rPr lang="tr-TR" dirty="0" smtClean="0"/>
              <a:t>A</a:t>
            </a:r>
            <a:r>
              <a:rPr lang="en-GB" dirty="0" smtClean="0"/>
              <a:t> </a:t>
            </a:r>
            <a:r>
              <a:rPr lang="en-GB" dirty="0" err="1" smtClean="0"/>
              <a:t>counselor</a:t>
            </a:r>
            <a:r>
              <a:rPr lang="en-GB" dirty="0" smtClean="0"/>
              <a:t> is a professional school counsellor who is certified licensed educator, trained in school counselling with unique qualifications and skills to address all students academic, personal/social and career developmental needs, or </a:t>
            </a:r>
            <a:r>
              <a:rPr lang="en-GB" dirty="0" err="1" smtClean="0"/>
              <a:t>counselor</a:t>
            </a:r>
            <a:r>
              <a:rPr lang="en-GB" dirty="0" smtClean="0"/>
              <a:t> can be simply refer to as a person who provides advice as a job. It is a professional and licensed trained person who counsel people either on personal problems, career, and education and health issues (</a:t>
            </a:r>
            <a:r>
              <a:rPr lang="en-GB" dirty="0" err="1" smtClean="0"/>
              <a:t>Nanjwan</a:t>
            </a:r>
            <a:r>
              <a:rPr lang="en-GB" dirty="0" smtClean="0"/>
              <a:t> &amp; </a:t>
            </a:r>
            <a:r>
              <a:rPr lang="en-GB" dirty="0" err="1" smtClean="0"/>
              <a:t>Plang</a:t>
            </a:r>
            <a:r>
              <a:rPr lang="en-GB" dirty="0" smtClean="0"/>
              <a:t> 2015).</a:t>
            </a:r>
            <a:endParaRPr lang="tr-TR" dirty="0"/>
          </a:p>
        </p:txBody>
      </p:sp>
    </p:spTree>
    <p:extLst>
      <p:ext uri="{BB962C8B-B14F-4D97-AF65-F5344CB8AC3E}">
        <p14:creationId xmlns:p14="http://schemas.microsoft.com/office/powerpoint/2010/main" val="1029725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Special </a:t>
            </a:r>
            <a:r>
              <a:rPr lang="tr-TR" dirty="0" err="1" smtClean="0"/>
              <a:t>needs</a:t>
            </a:r>
            <a:r>
              <a:rPr lang="tr-TR" dirty="0" smtClean="0"/>
              <a:t> </a:t>
            </a:r>
            <a:r>
              <a:rPr lang="tr-TR" dirty="0" err="1" smtClean="0"/>
              <a:t>counselling</a:t>
            </a:r>
            <a:endParaRPr lang="tr-TR" dirty="0"/>
          </a:p>
        </p:txBody>
      </p:sp>
      <p:sp>
        <p:nvSpPr>
          <p:cNvPr id="3" name="İçerik Yer Tutucusu 2"/>
          <p:cNvSpPr>
            <a:spLocks noGrp="1"/>
          </p:cNvSpPr>
          <p:nvPr>
            <p:ph idx="1"/>
          </p:nvPr>
        </p:nvSpPr>
        <p:spPr/>
        <p:txBody>
          <a:bodyPr>
            <a:normAutofit fontScale="92500"/>
          </a:bodyPr>
          <a:lstStyle/>
          <a:p>
            <a:pPr marL="0" indent="0">
              <a:buNone/>
            </a:pPr>
            <a:r>
              <a:rPr lang="en-GB" dirty="0" err="1" smtClean="0"/>
              <a:t>Nwamuo</a:t>
            </a:r>
            <a:r>
              <a:rPr lang="en-GB" dirty="0" smtClean="0"/>
              <a:t>, (2001) posited that guidance and counselling should: </a:t>
            </a:r>
            <a:endParaRPr lang="tr-TR" dirty="0" smtClean="0"/>
          </a:p>
          <a:p>
            <a:pPr marL="0" indent="0">
              <a:buNone/>
            </a:pPr>
            <a:r>
              <a:rPr lang="en-GB" dirty="0" smtClean="0"/>
              <a:t>- Assists the special need children to become self reliant </a:t>
            </a:r>
            <a:endParaRPr lang="tr-TR" dirty="0" smtClean="0"/>
          </a:p>
          <a:p>
            <a:pPr marL="0" indent="0">
              <a:buNone/>
            </a:pPr>
            <a:r>
              <a:rPr lang="en-GB" dirty="0" smtClean="0"/>
              <a:t>- Motivates them to develop positive attitude towards the society </a:t>
            </a:r>
            <a:endParaRPr lang="tr-TR" dirty="0" smtClean="0"/>
          </a:p>
          <a:p>
            <a:pPr marL="0" indent="0">
              <a:buNone/>
            </a:pPr>
            <a:r>
              <a:rPr lang="en-GB" dirty="0" smtClean="0"/>
              <a:t>- Inculcates in the children esteem needs </a:t>
            </a:r>
            <a:endParaRPr lang="tr-TR" dirty="0" smtClean="0"/>
          </a:p>
          <a:p>
            <a:pPr marL="0" indent="0">
              <a:buNone/>
            </a:pPr>
            <a:r>
              <a:rPr lang="en-GB" dirty="0" smtClean="0"/>
              <a:t>- Helps them in developing patterns of independent behaviour </a:t>
            </a:r>
            <a:endParaRPr lang="tr-TR" dirty="0" smtClean="0"/>
          </a:p>
          <a:p>
            <a:pPr marL="0" indent="0">
              <a:buNone/>
            </a:pPr>
            <a:r>
              <a:rPr lang="en-GB" dirty="0" smtClean="0"/>
              <a:t>- Helps the special needs children to develop self concept and help also in placing them in the appropriate vocation that suits their capabilities and limitations. </a:t>
            </a:r>
            <a:endParaRPr lang="tr-TR" dirty="0"/>
          </a:p>
        </p:txBody>
      </p:sp>
    </p:spTree>
    <p:extLst>
      <p:ext uri="{BB962C8B-B14F-4D97-AF65-F5344CB8AC3E}">
        <p14:creationId xmlns:p14="http://schemas.microsoft.com/office/powerpoint/2010/main" val="1626225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err="1" smtClean="0"/>
              <a:t>Different</a:t>
            </a:r>
            <a:r>
              <a:rPr lang="tr-TR" dirty="0" smtClean="0"/>
              <a:t> </a:t>
            </a:r>
            <a:r>
              <a:rPr lang="tr-TR" dirty="0" err="1" smtClean="0"/>
              <a:t>types</a:t>
            </a:r>
            <a:r>
              <a:rPr lang="tr-TR" dirty="0" smtClean="0"/>
              <a:t> of Special </a:t>
            </a:r>
            <a:r>
              <a:rPr lang="tr-TR" dirty="0" err="1" smtClean="0"/>
              <a:t>Need</a:t>
            </a:r>
            <a:r>
              <a:rPr lang="tr-TR" dirty="0" smtClean="0"/>
              <a:t> </a:t>
            </a:r>
            <a:r>
              <a:rPr lang="tr-TR" dirty="0" err="1" smtClean="0"/>
              <a:t>Students</a:t>
            </a:r>
            <a:endParaRPr lang="tr-TR" dirty="0"/>
          </a:p>
        </p:txBody>
      </p:sp>
      <p:sp>
        <p:nvSpPr>
          <p:cNvPr id="3" name="Alt Başlık 2"/>
          <p:cNvSpPr>
            <a:spLocks noGrp="1"/>
          </p:cNvSpPr>
          <p:nvPr>
            <p:ph type="subTitle" idx="1"/>
          </p:nvPr>
        </p:nvSpPr>
        <p:spPr/>
        <p:txBody>
          <a:bodyPr/>
          <a:lstStyle/>
          <a:p>
            <a:endParaRPr lang="tr-TR" dirty="0"/>
          </a:p>
        </p:txBody>
      </p:sp>
    </p:spTree>
    <p:extLst>
      <p:ext uri="{BB962C8B-B14F-4D97-AF65-F5344CB8AC3E}">
        <p14:creationId xmlns:p14="http://schemas.microsoft.com/office/powerpoint/2010/main" val="2143412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fontScale="90000"/>
          </a:bodyPr>
          <a:lstStyle/>
          <a:p>
            <a:r>
              <a:rPr lang="tr-TR" b="1" dirty="0" err="1"/>
              <a:t>Section</a:t>
            </a:r>
            <a:r>
              <a:rPr lang="tr-TR" b="1" dirty="0"/>
              <a:t> 504</a:t>
            </a:r>
            <a:br>
              <a:rPr lang="tr-TR" b="1" dirty="0"/>
            </a:br>
            <a:endParaRPr lang="tr-TR" dirty="0"/>
          </a:p>
        </p:txBody>
      </p:sp>
      <p:sp>
        <p:nvSpPr>
          <p:cNvPr id="3" name="İçerik Yer Tutucusu 2"/>
          <p:cNvSpPr>
            <a:spLocks noGrp="1"/>
          </p:cNvSpPr>
          <p:nvPr>
            <p:ph idx="1"/>
          </p:nvPr>
        </p:nvSpPr>
        <p:spPr/>
        <p:txBody>
          <a:bodyPr/>
          <a:lstStyle/>
          <a:p>
            <a:r>
              <a:rPr lang="en-GB" dirty="0"/>
              <a:t>504 plans are formal plans that schools develop to give kids with disabilities the support they need. That covers any condition that limits daily activities in a major way.</a:t>
            </a:r>
          </a:p>
          <a:p>
            <a:r>
              <a:rPr lang="en-GB" dirty="0"/>
              <a:t>These plans prevent discrimination. And they protect the rights of kids with disabilities in school. They’re covered under </a:t>
            </a:r>
            <a:r>
              <a:rPr lang="en-GB" b="1" dirty="0">
                <a:hlinkClick r:id="rId2"/>
              </a:rPr>
              <a:t>Section 504 of the Rehabilitation Act </a:t>
            </a:r>
            <a:r>
              <a:rPr lang="en-GB" dirty="0"/>
              <a:t>. This is a civil rights law.</a:t>
            </a:r>
          </a:p>
          <a:p>
            <a:r>
              <a:rPr lang="en-GB" dirty="0"/>
              <a:t>But the end goal is the same: to help students thrive in school.</a:t>
            </a:r>
            <a:endParaRPr lang="tr-TR" dirty="0"/>
          </a:p>
        </p:txBody>
      </p:sp>
    </p:spTree>
    <p:extLst>
      <p:ext uri="{BB962C8B-B14F-4D97-AF65-F5344CB8AC3E}">
        <p14:creationId xmlns:p14="http://schemas.microsoft.com/office/powerpoint/2010/main" val="4260614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IDEA</a:t>
            </a:r>
            <a:endParaRPr lang="tr-TR" dirty="0"/>
          </a:p>
        </p:txBody>
      </p:sp>
      <p:sp>
        <p:nvSpPr>
          <p:cNvPr id="3" name="İçerik Yer Tutucusu 2"/>
          <p:cNvSpPr>
            <a:spLocks noGrp="1"/>
          </p:cNvSpPr>
          <p:nvPr>
            <p:ph idx="1"/>
          </p:nvPr>
        </p:nvSpPr>
        <p:spPr/>
        <p:txBody>
          <a:bodyPr/>
          <a:lstStyle/>
          <a:p>
            <a:r>
              <a:rPr lang="en-GB" dirty="0"/>
              <a:t>The Individuals with Disabilities Education Act (IDEA) ensures that </a:t>
            </a:r>
            <a:r>
              <a:rPr lang="en-GB" b="1" dirty="0"/>
              <a:t>all children with disabilities are entitled to a free appropriate public education to meet their unique needs</a:t>
            </a:r>
            <a:r>
              <a:rPr lang="en-GB" dirty="0"/>
              <a:t> and prepare them for further education, employment and independent living.</a:t>
            </a:r>
            <a:endParaRPr lang="tr-TR" dirty="0"/>
          </a:p>
        </p:txBody>
      </p:sp>
    </p:spTree>
    <p:extLst>
      <p:ext uri="{BB962C8B-B14F-4D97-AF65-F5344CB8AC3E}">
        <p14:creationId xmlns:p14="http://schemas.microsoft.com/office/powerpoint/2010/main" val="4138147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IEP</a:t>
            </a:r>
            <a:endParaRPr lang="tr-TR" dirty="0"/>
          </a:p>
        </p:txBody>
      </p:sp>
      <p:sp>
        <p:nvSpPr>
          <p:cNvPr id="3" name="İçerik Yer Tutucusu 2"/>
          <p:cNvSpPr>
            <a:spLocks noGrp="1"/>
          </p:cNvSpPr>
          <p:nvPr>
            <p:ph idx="1"/>
          </p:nvPr>
        </p:nvSpPr>
        <p:spPr/>
        <p:txBody>
          <a:bodyPr/>
          <a:lstStyle/>
          <a:p>
            <a:r>
              <a:rPr lang="en-GB" dirty="0"/>
              <a:t>IEP stands for Individualized Education Program.</a:t>
            </a:r>
          </a:p>
          <a:p>
            <a:r>
              <a:rPr lang="en-GB" dirty="0"/>
              <a:t>An IEP lays out the special education instruction, supports, and services a student needs to thrive in school.</a:t>
            </a:r>
          </a:p>
          <a:p>
            <a:r>
              <a:rPr lang="en-GB" dirty="0"/>
              <a:t>IEPs are part of </a:t>
            </a:r>
            <a:r>
              <a:rPr lang="en-GB" dirty="0" err="1"/>
              <a:t>PreK</a:t>
            </a:r>
            <a:r>
              <a:rPr lang="en-GB" dirty="0"/>
              <a:t>–12 public education.</a:t>
            </a:r>
          </a:p>
          <a:p>
            <a:r>
              <a:rPr lang="en-GB" dirty="0"/>
              <a:t>IEPs are covered by special education law, or the Individuals with Disabilities Education Act (IDEA). They’re created for eligible kids who attend public </a:t>
            </a:r>
            <a:r>
              <a:rPr lang="en-GB" dirty="0" smtClean="0"/>
              <a:t>school</a:t>
            </a:r>
            <a:endParaRPr lang="tr-TR" dirty="0"/>
          </a:p>
        </p:txBody>
      </p:sp>
    </p:spTree>
    <p:extLst>
      <p:ext uri="{BB962C8B-B14F-4D97-AF65-F5344CB8AC3E}">
        <p14:creationId xmlns:p14="http://schemas.microsoft.com/office/powerpoint/2010/main" val="2623712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514351" y="1122363"/>
            <a:ext cx="10153650" cy="1887537"/>
          </a:xfrm>
        </p:spPr>
        <p:txBody>
          <a:bodyPr>
            <a:normAutofit/>
          </a:bodyPr>
          <a:lstStyle/>
          <a:p>
            <a:r>
              <a:rPr lang="tr-TR" dirty="0" err="1" smtClean="0"/>
              <a:t>The</a:t>
            </a:r>
            <a:r>
              <a:rPr lang="tr-TR" dirty="0" smtClean="0"/>
              <a:t> </a:t>
            </a:r>
            <a:r>
              <a:rPr lang="tr-TR" dirty="0" err="1" smtClean="0"/>
              <a:t>way</a:t>
            </a:r>
            <a:r>
              <a:rPr lang="tr-TR" dirty="0" smtClean="0"/>
              <a:t>.. How?</a:t>
            </a:r>
            <a:endParaRPr lang="tr-TR" dirty="0"/>
          </a:p>
        </p:txBody>
      </p:sp>
      <p:sp>
        <p:nvSpPr>
          <p:cNvPr id="4" name="Alt Başlık 3"/>
          <p:cNvSpPr>
            <a:spLocks noGrp="1"/>
          </p:cNvSpPr>
          <p:nvPr>
            <p:ph type="subTitle" idx="1"/>
          </p:nvPr>
        </p:nvSpPr>
        <p:spPr/>
        <p:txBody>
          <a:bodyPr/>
          <a:lstStyle/>
          <a:p>
            <a:endParaRPr lang="tr-TR"/>
          </a:p>
        </p:txBody>
      </p:sp>
    </p:spTree>
    <p:extLst>
      <p:ext uri="{BB962C8B-B14F-4D97-AF65-F5344CB8AC3E}">
        <p14:creationId xmlns:p14="http://schemas.microsoft.com/office/powerpoint/2010/main" val="2920966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28675" y="758825"/>
            <a:ext cx="11029950" cy="1460500"/>
          </a:xfrm>
        </p:spPr>
        <p:txBody>
          <a:bodyPr>
            <a:normAutofit fontScale="90000"/>
          </a:bodyPr>
          <a:lstStyle/>
          <a:p>
            <a:r>
              <a:rPr lang="en-GB" dirty="0" smtClean="0"/>
              <a:t>The </a:t>
            </a:r>
            <a:r>
              <a:rPr lang="en-GB" dirty="0" err="1" smtClean="0"/>
              <a:t>counselor</a:t>
            </a:r>
            <a:r>
              <a:rPr lang="en-GB" dirty="0" smtClean="0"/>
              <a:t> plays a lot of roles in seeing that the special needs children have access to quality education</a:t>
            </a:r>
            <a:endParaRPr lang="tr-TR" dirty="0"/>
          </a:p>
        </p:txBody>
      </p:sp>
      <p:sp>
        <p:nvSpPr>
          <p:cNvPr id="3" name="İçerik Yer Tutucusu 2"/>
          <p:cNvSpPr>
            <a:spLocks noGrp="1"/>
          </p:cNvSpPr>
          <p:nvPr>
            <p:ph idx="1"/>
          </p:nvPr>
        </p:nvSpPr>
        <p:spPr>
          <a:xfrm>
            <a:off x="2124075" y="2495550"/>
            <a:ext cx="7810500" cy="3633788"/>
          </a:xfrm>
        </p:spPr>
        <p:txBody>
          <a:bodyPr>
            <a:normAutofit/>
          </a:bodyPr>
          <a:lstStyle/>
          <a:p>
            <a:r>
              <a:rPr lang="en-GB" dirty="0" smtClean="0"/>
              <a:t>orientation,</a:t>
            </a:r>
            <a:endParaRPr lang="tr-TR" dirty="0" smtClean="0"/>
          </a:p>
          <a:p>
            <a:r>
              <a:rPr lang="en-GB" dirty="0" smtClean="0"/>
              <a:t>identification, </a:t>
            </a:r>
            <a:endParaRPr lang="tr-TR" dirty="0" smtClean="0"/>
          </a:p>
          <a:p>
            <a:r>
              <a:rPr lang="en-GB" dirty="0" smtClean="0"/>
              <a:t>diagnosis, </a:t>
            </a:r>
            <a:endParaRPr lang="tr-TR" dirty="0" smtClean="0"/>
          </a:p>
          <a:p>
            <a:r>
              <a:rPr lang="en-GB" dirty="0" smtClean="0"/>
              <a:t>placement,</a:t>
            </a:r>
            <a:endParaRPr lang="tr-TR" dirty="0" smtClean="0"/>
          </a:p>
          <a:p>
            <a:r>
              <a:rPr lang="en-GB" dirty="0" err="1" smtClean="0"/>
              <a:t>counseling</a:t>
            </a:r>
            <a:r>
              <a:rPr lang="en-GB" dirty="0" smtClean="0"/>
              <a:t> </a:t>
            </a:r>
            <a:endParaRPr lang="tr-TR" dirty="0" smtClean="0"/>
          </a:p>
          <a:p>
            <a:r>
              <a:rPr lang="en-GB" dirty="0" smtClean="0"/>
              <a:t>referral </a:t>
            </a:r>
            <a:endParaRPr lang="tr-TR" dirty="0" smtClean="0"/>
          </a:p>
          <a:p>
            <a:r>
              <a:rPr lang="en-GB" dirty="0" smtClean="0"/>
              <a:t>and follow up services.</a:t>
            </a:r>
            <a:endParaRPr lang="tr-TR" dirty="0"/>
          </a:p>
        </p:txBody>
      </p:sp>
    </p:spTree>
    <p:extLst>
      <p:ext uri="{BB962C8B-B14F-4D97-AF65-F5344CB8AC3E}">
        <p14:creationId xmlns:p14="http://schemas.microsoft.com/office/powerpoint/2010/main" val="3597399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Orientation</a:t>
            </a:r>
            <a:endParaRPr lang="tr-TR" dirty="0"/>
          </a:p>
        </p:txBody>
      </p:sp>
      <p:sp>
        <p:nvSpPr>
          <p:cNvPr id="3" name="İçerik Yer Tutucusu 2"/>
          <p:cNvSpPr>
            <a:spLocks noGrp="1"/>
          </p:cNvSpPr>
          <p:nvPr>
            <p:ph idx="1"/>
          </p:nvPr>
        </p:nvSpPr>
        <p:spPr/>
        <p:txBody>
          <a:bodyPr/>
          <a:lstStyle/>
          <a:p>
            <a:r>
              <a:rPr lang="en-GB" dirty="0" smtClean="0"/>
              <a:t>All the stakeholders in the education of the special needs children need orientation. This is a specialized service provided by the </a:t>
            </a:r>
            <a:r>
              <a:rPr lang="en-GB" dirty="0" err="1" smtClean="0"/>
              <a:t>counselor</a:t>
            </a:r>
            <a:r>
              <a:rPr lang="en-GB" dirty="0" smtClean="0"/>
              <a:t> for the parents of special needs children, special teacher (educator), the school management, other teachers, students (both able and disabled) and even the education officers. </a:t>
            </a:r>
            <a:endParaRPr lang="tr-TR" dirty="0"/>
          </a:p>
        </p:txBody>
      </p:sp>
    </p:spTree>
    <p:extLst>
      <p:ext uri="{BB962C8B-B14F-4D97-AF65-F5344CB8AC3E}">
        <p14:creationId xmlns:p14="http://schemas.microsoft.com/office/powerpoint/2010/main" val="2737597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Identification</a:t>
            </a:r>
            <a:endParaRPr lang="tr-TR" dirty="0"/>
          </a:p>
        </p:txBody>
      </p:sp>
      <p:sp>
        <p:nvSpPr>
          <p:cNvPr id="3" name="İçerik Yer Tutucusu 2"/>
          <p:cNvSpPr>
            <a:spLocks noGrp="1"/>
          </p:cNvSpPr>
          <p:nvPr>
            <p:ph idx="1"/>
          </p:nvPr>
        </p:nvSpPr>
        <p:spPr/>
        <p:txBody>
          <a:bodyPr/>
          <a:lstStyle/>
          <a:p>
            <a:r>
              <a:rPr lang="tr-TR" dirty="0" smtClean="0"/>
              <a:t>T</a:t>
            </a:r>
            <a:r>
              <a:rPr lang="en-GB" dirty="0" smtClean="0"/>
              <a:t>he counsellors have to work in collaboration with special education teachers and parents in identifying the special needs children. When this is done on time, such special needs children can be given early intervention with the necessary special needs and services for them to have access to a quality education</a:t>
            </a:r>
            <a:endParaRPr lang="tr-TR" dirty="0"/>
          </a:p>
        </p:txBody>
      </p:sp>
    </p:spTree>
    <p:extLst>
      <p:ext uri="{BB962C8B-B14F-4D97-AF65-F5344CB8AC3E}">
        <p14:creationId xmlns:p14="http://schemas.microsoft.com/office/powerpoint/2010/main" val="2324744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Diagnosis</a:t>
            </a:r>
            <a:endParaRPr lang="tr-TR" dirty="0"/>
          </a:p>
        </p:txBody>
      </p:sp>
      <p:sp>
        <p:nvSpPr>
          <p:cNvPr id="3" name="İçerik Yer Tutucusu 2"/>
          <p:cNvSpPr>
            <a:spLocks noGrp="1"/>
          </p:cNvSpPr>
          <p:nvPr>
            <p:ph idx="1"/>
          </p:nvPr>
        </p:nvSpPr>
        <p:spPr/>
        <p:txBody>
          <a:bodyPr/>
          <a:lstStyle/>
          <a:p>
            <a:r>
              <a:rPr lang="tr-TR" dirty="0" smtClean="0"/>
              <a:t>T</a:t>
            </a:r>
            <a:r>
              <a:rPr lang="en-GB" dirty="0" smtClean="0"/>
              <a:t>he counsellor single </a:t>
            </a:r>
            <a:r>
              <a:rPr lang="en-GB" dirty="0" err="1" smtClean="0"/>
              <a:t>handedly</a:t>
            </a:r>
            <a:r>
              <a:rPr lang="en-GB" dirty="0" smtClean="0"/>
              <a:t> uses instrument like psychological test techniques, including </a:t>
            </a:r>
            <a:r>
              <a:rPr lang="en-GB" dirty="0" err="1" smtClean="0"/>
              <a:t>nontest</a:t>
            </a:r>
            <a:r>
              <a:rPr lang="en-GB" dirty="0" smtClean="0"/>
              <a:t> techniques such as interviews and observation to gather necessary information that can provide basis for decision making on these children (</a:t>
            </a:r>
            <a:r>
              <a:rPr lang="en-GB" dirty="0" err="1" smtClean="0"/>
              <a:t>Adediran</a:t>
            </a:r>
            <a:r>
              <a:rPr lang="en-GB" dirty="0" smtClean="0"/>
              <a:t>, 2012, (</a:t>
            </a:r>
            <a:r>
              <a:rPr lang="en-GB" dirty="0" err="1" smtClean="0"/>
              <a:t>Nanjwan</a:t>
            </a:r>
            <a:r>
              <a:rPr lang="en-GB" dirty="0" smtClean="0"/>
              <a:t> &amp; </a:t>
            </a:r>
            <a:r>
              <a:rPr lang="en-GB" dirty="0" err="1" smtClean="0"/>
              <a:t>Igba</a:t>
            </a:r>
            <a:r>
              <a:rPr lang="en-GB" dirty="0" smtClean="0"/>
              <a:t> 2019) </a:t>
            </a:r>
            <a:endParaRPr lang="tr-TR" dirty="0"/>
          </a:p>
        </p:txBody>
      </p:sp>
    </p:spTree>
    <p:extLst>
      <p:ext uri="{BB962C8B-B14F-4D97-AF65-F5344CB8AC3E}">
        <p14:creationId xmlns:p14="http://schemas.microsoft.com/office/powerpoint/2010/main" val="1037365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Placement</a:t>
            </a:r>
            <a:endParaRPr lang="tr-TR" dirty="0"/>
          </a:p>
        </p:txBody>
      </p:sp>
      <p:sp>
        <p:nvSpPr>
          <p:cNvPr id="3" name="İçerik Yer Tutucusu 2"/>
          <p:cNvSpPr>
            <a:spLocks noGrp="1"/>
          </p:cNvSpPr>
          <p:nvPr>
            <p:ph idx="1"/>
          </p:nvPr>
        </p:nvSpPr>
        <p:spPr/>
        <p:txBody>
          <a:bodyPr/>
          <a:lstStyle/>
          <a:p>
            <a:r>
              <a:rPr lang="en-GB" dirty="0" smtClean="0"/>
              <a:t>The counsellor assists in providing placement services for special needs children by planning with the special education teachers and administrators for their grouping.</a:t>
            </a:r>
            <a:endParaRPr lang="tr-TR" dirty="0" smtClean="0"/>
          </a:p>
          <a:p>
            <a:r>
              <a:rPr lang="en-GB" dirty="0" err="1" smtClean="0"/>
              <a:t>Osatuyi</a:t>
            </a:r>
            <a:r>
              <a:rPr lang="en-GB" dirty="0" smtClean="0"/>
              <a:t>, (2004) and </a:t>
            </a:r>
            <a:r>
              <a:rPr lang="en-GB" dirty="0" err="1" smtClean="0"/>
              <a:t>Nanjwan</a:t>
            </a:r>
            <a:r>
              <a:rPr lang="en-GB" dirty="0" smtClean="0"/>
              <a:t> &amp; </a:t>
            </a:r>
            <a:r>
              <a:rPr lang="en-GB" dirty="0" err="1" smtClean="0"/>
              <a:t>Ikwen</a:t>
            </a:r>
            <a:r>
              <a:rPr lang="en-GB" dirty="0" smtClean="0"/>
              <a:t> (2016) opined that early </a:t>
            </a:r>
            <a:r>
              <a:rPr lang="en-GB" dirty="0" err="1" smtClean="0"/>
              <a:t>segregative</a:t>
            </a:r>
            <a:r>
              <a:rPr lang="en-GB" dirty="0" smtClean="0"/>
              <a:t> educational class has failed to teach special needs children appropriate behaviour in preparing them for community life</a:t>
            </a:r>
            <a:endParaRPr lang="tr-TR" dirty="0"/>
          </a:p>
        </p:txBody>
      </p:sp>
    </p:spTree>
    <p:extLst>
      <p:ext uri="{BB962C8B-B14F-4D97-AF65-F5344CB8AC3E}">
        <p14:creationId xmlns:p14="http://schemas.microsoft.com/office/powerpoint/2010/main" val="1962499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Counselling</a:t>
            </a:r>
            <a:endParaRPr lang="tr-TR" dirty="0"/>
          </a:p>
        </p:txBody>
      </p:sp>
      <p:sp>
        <p:nvSpPr>
          <p:cNvPr id="3" name="İçerik Yer Tutucusu 2"/>
          <p:cNvSpPr>
            <a:spLocks noGrp="1"/>
          </p:cNvSpPr>
          <p:nvPr>
            <p:ph idx="1"/>
          </p:nvPr>
        </p:nvSpPr>
        <p:spPr/>
        <p:txBody>
          <a:bodyPr/>
          <a:lstStyle/>
          <a:p>
            <a:r>
              <a:rPr lang="en-GB" dirty="0" smtClean="0"/>
              <a:t>The </a:t>
            </a:r>
            <a:r>
              <a:rPr lang="en-GB" dirty="0" err="1" smtClean="0"/>
              <a:t>counselor</a:t>
            </a:r>
            <a:r>
              <a:rPr lang="en-GB" dirty="0" smtClean="0"/>
              <a:t> is role here is simply to always be in touch with the special needs children for him to be able to counsel them in three main areas educational personal-social and vocational. The </a:t>
            </a:r>
            <a:r>
              <a:rPr lang="en-GB" dirty="0" err="1" smtClean="0"/>
              <a:t>counselor</a:t>
            </a:r>
            <a:r>
              <a:rPr lang="en-GB" dirty="0" smtClean="0"/>
              <a:t> also needs to counsel their parents and teachers on the need to always support these children emotionally</a:t>
            </a:r>
            <a:endParaRPr lang="tr-TR" dirty="0"/>
          </a:p>
        </p:txBody>
      </p:sp>
    </p:spTree>
    <p:extLst>
      <p:ext uri="{BB962C8B-B14F-4D97-AF65-F5344CB8AC3E}">
        <p14:creationId xmlns:p14="http://schemas.microsoft.com/office/powerpoint/2010/main" val="3087668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Counselling</a:t>
            </a:r>
            <a:endParaRPr lang="tr-TR" dirty="0"/>
          </a:p>
        </p:txBody>
      </p:sp>
      <p:sp>
        <p:nvSpPr>
          <p:cNvPr id="3" name="İçerik Yer Tutucusu 2"/>
          <p:cNvSpPr>
            <a:spLocks noGrp="1"/>
          </p:cNvSpPr>
          <p:nvPr>
            <p:ph idx="1"/>
          </p:nvPr>
        </p:nvSpPr>
        <p:spPr/>
        <p:txBody>
          <a:bodyPr/>
          <a:lstStyle/>
          <a:p>
            <a:r>
              <a:rPr lang="en-GB" dirty="0" err="1" smtClean="0"/>
              <a:t>Counselors</a:t>
            </a:r>
            <a:r>
              <a:rPr lang="en-GB" dirty="0" smtClean="0"/>
              <a:t> help the special needs learners to understand their abilities, interest, values, aptitudes, needs, experiences, fault and good qualities, so that they can use such knowledge to make wise decisions. Special needs children may experience anxiety in their study habits and examination case like these require </a:t>
            </a:r>
            <a:r>
              <a:rPr lang="en-GB" dirty="0" err="1" smtClean="0"/>
              <a:t>counseling</a:t>
            </a:r>
            <a:r>
              <a:rPr lang="en-GB" dirty="0" smtClean="0"/>
              <a:t> (</a:t>
            </a:r>
            <a:r>
              <a:rPr lang="en-GB" dirty="0" err="1" smtClean="0"/>
              <a:t>Oyeduran</a:t>
            </a:r>
            <a:r>
              <a:rPr lang="en-GB" dirty="0" smtClean="0"/>
              <a:t>, 2013) and (</a:t>
            </a:r>
            <a:r>
              <a:rPr lang="en-GB" dirty="0" err="1" smtClean="0"/>
              <a:t>Nanjwan</a:t>
            </a:r>
            <a:r>
              <a:rPr lang="en-GB" dirty="0" smtClean="0"/>
              <a:t> &amp; </a:t>
            </a:r>
            <a:r>
              <a:rPr lang="en-GB" dirty="0" err="1" smtClean="0"/>
              <a:t>Owojaiye</a:t>
            </a:r>
            <a:r>
              <a:rPr lang="en-GB" dirty="0" smtClean="0"/>
              <a:t> 2019).</a:t>
            </a:r>
            <a:endParaRPr lang="tr-TR" dirty="0"/>
          </a:p>
        </p:txBody>
      </p:sp>
    </p:spTree>
    <p:extLst>
      <p:ext uri="{BB962C8B-B14F-4D97-AF65-F5344CB8AC3E}">
        <p14:creationId xmlns:p14="http://schemas.microsoft.com/office/powerpoint/2010/main" val="3890784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Referrals</a:t>
            </a:r>
            <a:r>
              <a:rPr lang="tr-TR" dirty="0" smtClean="0"/>
              <a:t> Services</a:t>
            </a:r>
            <a:endParaRPr lang="tr-TR" dirty="0"/>
          </a:p>
        </p:txBody>
      </p:sp>
      <p:sp>
        <p:nvSpPr>
          <p:cNvPr id="3" name="İçerik Yer Tutucusu 2"/>
          <p:cNvSpPr>
            <a:spLocks noGrp="1"/>
          </p:cNvSpPr>
          <p:nvPr>
            <p:ph idx="1"/>
          </p:nvPr>
        </p:nvSpPr>
        <p:spPr/>
        <p:txBody>
          <a:bodyPr/>
          <a:lstStyle/>
          <a:p>
            <a:r>
              <a:rPr lang="tr-TR" dirty="0" smtClean="0"/>
              <a:t>T</a:t>
            </a:r>
            <a:r>
              <a:rPr lang="en-GB" dirty="0" smtClean="0"/>
              <a:t>his is another important service to be carried out by the </a:t>
            </a:r>
            <a:r>
              <a:rPr lang="en-GB" dirty="0" err="1" smtClean="0"/>
              <a:t>counselor</a:t>
            </a:r>
            <a:r>
              <a:rPr lang="en-GB" dirty="0" smtClean="0"/>
              <a:t>. Special needs children in need of one thing or the other should be referred to the appropriate agencies. </a:t>
            </a:r>
            <a:endParaRPr lang="tr-TR" dirty="0" smtClean="0"/>
          </a:p>
          <a:p>
            <a:r>
              <a:rPr lang="tr-TR" dirty="0" smtClean="0"/>
              <a:t>H</a:t>
            </a:r>
            <a:r>
              <a:rPr lang="en-GB" dirty="0" smtClean="0"/>
              <a:t>e is not competent to handle to specialist such as trained clinical psychologists, rehabilitation </a:t>
            </a:r>
            <a:r>
              <a:rPr lang="en-GB" dirty="0" err="1" smtClean="0"/>
              <a:t>centers</a:t>
            </a:r>
            <a:r>
              <a:rPr lang="en-GB" dirty="0" smtClean="0"/>
              <a:t>, hospital </a:t>
            </a:r>
            <a:r>
              <a:rPr lang="en-GB" dirty="0" err="1" smtClean="0"/>
              <a:t>e.t.c</a:t>
            </a:r>
            <a:r>
              <a:rPr lang="en-GB" dirty="0" smtClean="0"/>
              <a:t> the </a:t>
            </a:r>
            <a:r>
              <a:rPr lang="en-GB" dirty="0" err="1" smtClean="0"/>
              <a:t>counselor</a:t>
            </a:r>
            <a:r>
              <a:rPr lang="en-GB" dirty="0" smtClean="0"/>
              <a:t> after making referral should also be involve in the follow-up services just for him to be able to know the progress being made by the special needs children. </a:t>
            </a:r>
            <a:endParaRPr lang="tr-TR" dirty="0"/>
          </a:p>
        </p:txBody>
      </p:sp>
    </p:spTree>
    <p:extLst>
      <p:ext uri="{BB962C8B-B14F-4D97-AF65-F5344CB8AC3E}">
        <p14:creationId xmlns:p14="http://schemas.microsoft.com/office/powerpoint/2010/main" val="2464542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Follow</a:t>
            </a:r>
            <a:r>
              <a:rPr lang="tr-TR" dirty="0" smtClean="0"/>
              <a:t> </a:t>
            </a:r>
            <a:r>
              <a:rPr lang="tr-TR" dirty="0" err="1" smtClean="0"/>
              <a:t>up</a:t>
            </a:r>
            <a:endParaRPr lang="tr-TR" dirty="0"/>
          </a:p>
        </p:txBody>
      </p:sp>
      <p:sp>
        <p:nvSpPr>
          <p:cNvPr id="3" name="İçerik Yer Tutucusu 2"/>
          <p:cNvSpPr>
            <a:spLocks noGrp="1"/>
          </p:cNvSpPr>
          <p:nvPr>
            <p:ph idx="1"/>
          </p:nvPr>
        </p:nvSpPr>
        <p:spPr/>
        <p:txBody>
          <a:bodyPr/>
          <a:lstStyle/>
          <a:p>
            <a:r>
              <a:rPr lang="en-GB" dirty="0" smtClean="0"/>
              <a:t>After the </a:t>
            </a:r>
            <a:r>
              <a:rPr lang="en-GB" dirty="0" err="1" smtClean="0"/>
              <a:t>counselors</a:t>
            </a:r>
            <a:r>
              <a:rPr lang="en-GB" dirty="0" smtClean="0"/>
              <a:t> have made the referral services, he or she should be involve the follow-up services just for him to be able to know the progress being made for the special needs children. </a:t>
            </a:r>
            <a:endParaRPr lang="tr-TR" dirty="0"/>
          </a:p>
        </p:txBody>
      </p:sp>
    </p:spTree>
    <p:extLst>
      <p:ext uri="{BB962C8B-B14F-4D97-AF65-F5344CB8AC3E}">
        <p14:creationId xmlns:p14="http://schemas.microsoft.com/office/powerpoint/2010/main" val="393862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GB" dirty="0" smtClean="0"/>
              <a:t>References</a:t>
            </a:r>
            <a:endParaRPr lang="en-GB" dirty="0"/>
          </a:p>
        </p:txBody>
      </p:sp>
      <p:sp>
        <p:nvSpPr>
          <p:cNvPr id="3" name="İçerik Yer Tutucusu 2"/>
          <p:cNvSpPr>
            <a:spLocks noGrp="1"/>
          </p:cNvSpPr>
          <p:nvPr>
            <p:ph idx="1"/>
          </p:nvPr>
        </p:nvSpPr>
        <p:spPr/>
        <p:txBody>
          <a:bodyPr/>
          <a:lstStyle/>
          <a:p>
            <a:r>
              <a:rPr lang="en-GB" dirty="0" err="1"/>
              <a:t>Usang</a:t>
            </a:r>
            <a:r>
              <a:rPr lang="en-GB" dirty="0"/>
              <a:t>, F., 2021. </a:t>
            </a:r>
            <a:r>
              <a:rPr lang="en-GB" i="1" dirty="0"/>
              <a:t>Roles of </a:t>
            </a:r>
            <a:r>
              <a:rPr lang="en-GB" i="1" dirty="0" err="1"/>
              <a:t>Counselors</a:t>
            </a:r>
            <a:r>
              <a:rPr lang="en-GB" i="1" dirty="0"/>
              <a:t> in Counselling Students With Special Education Needs in Cross River State</a:t>
            </a:r>
            <a:r>
              <a:rPr lang="en-GB" dirty="0"/>
              <a:t>. </a:t>
            </a:r>
            <a:endParaRPr lang="tr-TR" dirty="0" smtClean="0"/>
          </a:p>
          <a:p>
            <a:r>
              <a:rPr lang="tr-TR" dirty="0">
                <a:hlinkClick r:id="rId2"/>
              </a:rPr>
              <a:t>https://</a:t>
            </a:r>
            <a:r>
              <a:rPr lang="tr-TR" dirty="0" smtClean="0">
                <a:hlinkClick r:id="rId2"/>
              </a:rPr>
              <a:t>www.understood.org/articles/en/what-is-an-iep</a:t>
            </a:r>
            <a:endParaRPr lang="tr-TR" dirty="0" smtClean="0"/>
          </a:p>
          <a:p>
            <a:r>
              <a:rPr lang="tr-TR" dirty="0">
                <a:hlinkClick r:id="rId3"/>
              </a:rPr>
              <a:t>https://</a:t>
            </a:r>
            <a:r>
              <a:rPr lang="tr-TR" dirty="0" smtClean="0">
                <a:hlinkClick r:id="rId3"/>
              </a:rPr>
              <a:t>tea.texas.gov/academics/special-student-populations</a:t>
            </a:r>
            <a:endParaRPr lang="tr-TR" dirty="0" smtClean="0"/>
          </a:p>
          <a:p>
            <a:r>
              <a:rPr lang="tr-TR">
                <a:hlinkClick r:id="rId4"/>
              </a:rPr>
              <a:t>https://</a:t>
            </a:r>
            <a:r>
              <a:rPr lang="tr-TR">
                <a:hlinkClick r:id="rId4"/>
              </a:rPr>
              <a:t>www.parentcenterhub.org/webinar-doe-iep-oct2021</a:t>
            </a:r>
            <a:r>
              <a:rPr lang="tr-TR" smtClean="0">
                <a:hlinkClick r:id="rId4"/>
              </a:rPr>
              <a:t>/</a:t>
            </a:r>
            <a:endParaRPr lang="tr-TR" smtClean="0"/>
          </a:p>
          <a:p>
            <a:endParaRPr lang="tr-TR" dirty="0" smtClean="0"/>
          </a:p>
          <a:p>
            <a:endParaRPr lang="tr-TR" dirty="0" smtClean="0"/>
          </a:p>
        </p:txBody>
      </p:sp>
    </p:spTree>
    <p:extLst>
      <p:ext uri="{BB962C8B-B14F-4D97-AF65-F5344CB8AC3E}">
        <p14:creationId xmlns:p14="http://schemas.microsoft.com/office/powerpoint/2010/main" val="240304561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k">
  <a:themeElements>
    <a:clrScheme name="Organik">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k">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k">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33</TotalTime>
  <Words>813</Words>
  <Application>Microsoft Office PowerPoint</Application>
  <PresentationFormat>Geniş ekran</PresentationFormat>
  <Paragraphs>54</Paragraphs>
  <Slides>18</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18</vt:i4>
      </vt:variant>
    </vt:vector>
  </HeadingPairs>
  <TitlesOfParts>
    <vt:vector size="21" baseType="lpstr">
      <vt:lpstr>Arial</vt:lpstr>
      <vt:lpstr>Garamond</vt:lpstr>
      <vt:lpstr>Organik</vt:lpstr>
      <vt:lpstr>Concept Of Counsellor And The Roles Of Counsellor In Special Needs Education</vt:lpstr>
      <vt:lpstr>Counselling</vt:lpstr>
      <vt:lpstr>Special needs counselling</vt:lpstr>
      <vt:lpstr>Different types of Special Need Students</vt:lpstr>
      <vt:lpstr>Section 504 </vt:lpstr>
      <vt:lpstr>IDEA</vt:lpstr>
      <vt:lpstr>IEP</vt:lpstr>
      <vt:lpstr>The way.. How?</vt:lpstr>
      <vt:lpstr>The counselor plays a lot of roles in seeing that the special needs children have access to quality education</vt:lpstr>
      <vt:lpstr>Orientation</vt:lpstr>
      <vt:lpstr>Identification</vt:lpstr>
      <vt:lpstr>Diagnosis</vt:lpstr>
      <vt:lpstr>Placement</vt:lpstr>
      <vt:lpstr>Counselling</vt:lpstr>
      <vt:lpstr>Counselling</vt:lpstr>
      <vt:lpstr>Referrals Services</vt:lpstr>
      <vt:lpstr>Follow up</vt:lpstr>
      <vt:lpstr>References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Of Counsellor And The Roles Of Counsellor In Special Needs Education</dc:title>
  <dc:creator>HP</dc:creator>
  <cp:lastModifiedBy>HP</cp:lastModifiedBy>
  <cp:revision>5</cp:revision>
  <dcterms:created xsi:type="dcterms:W3CDTF">2021-11-16T07:48:02Z</dcterms:created>
  <dcterms:modified xsi:type="dcterms:W3CDTF">2021-11-16T08:28:26Z</dcterms:modified>
</cp:coreProperties>
</file>